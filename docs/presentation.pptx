
<file path=[Content_Types].xml><?xml version="1.0" encoding="utf-8"?>
<Types xmlns="http://schemas.openxmlformats.org/package/2006/content-types">
  <Default Extension="Default" ContentType="image/pn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74" r:id="rId3"/>
    <p:sldMasterId id="2147483678" r:id="rId4"/>
  </p:sldMasterIdLst>
  <p:notesMasterIdLst>
    <p:notesMasterId r:id="rId17"/>
  </p:notesMasterIdLst>
  <p:sldIdLst>
    <p:sldId id="257" r:id="rId5"/>
    <p:sldId id="268" r:id="rId6"/>
    <p:sldId id="274" r:id="rId7"/>
    <p:sldId id="275" r:id="rId8"/>
    <p:sldId id="273" r:id="rId9"/>
    <p:sldId id="276" r:id="rId10"/>
    <p:sldId id="277" r:id="rId11"/>
    <p:sldId id="279" r:id="rId12"/>
    <p:sldId id="278" r:id="rId13"/>
    <p:sldId id="280" r:id="rId14"/>
    <p:sldId id="267" r:id="rId15"/>
    <p:sldId id="261" r:id="rId16"/>
  </p:sldIdLst>
  <p:sldSz cx="12192000" cy="6858000"/>
  <p:notesSz cx="6858000" cy="9144000"/>
  <p:defaultTextStyle>
    <a:defPPr>
      <a:defRPr lang="es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43334-A11D-4033-B577-8A4CA77D32BC}" type="datetimeFigureOut">
              <a:rPr lang="es-US" smtClean="0"/>
              <a:t>6/2/2026</a:t>
            </a:fld>
            <a:endParaRPr lang="es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8F87E-3673-4650-9730-6675D9406617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26934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15A26B-E16F-463C-BA28-0AA4C1277F90}" type="slidenum">
              <a:rPr kumimoji="0" lang="es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89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57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0FD79-008F-B808-7920-68B7D72DD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33348C-3653-C2F5-7B2B-1065A13CB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5072EE-0F6E-619C-402A-B55D230F8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BE4D8C-229F-AB7C-AE14-6FC18B52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9B8C01-1EF0-F55F-AC26-7B3631F8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538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8A42A-969D-2A73-1711-D4133647D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DF724E-8A09-7373-4153-7CC46C7A5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BDD2F3-C583-3274-5C02-E1FD9DA7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138D42-39E8-5923-1A10-B00A7421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E42876-402C-E5C6-C24A-38EC75DC4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617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6F37B-3BCB-6DE1-BDE1-27380C5D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472A2C-46C4-150B-5D36-1FF28E58A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F32133-AB01-BA42-13A3-9C34DF3C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9BC91E-7552-FE51-98C5-237307E8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94FDC7-E080-4144-F77A-AC0ED6F5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249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326D9-5A76-7F9B-D2A4-D4822D16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F21222-8409-C7FE-007F-2ED5A4CFC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BECF4F-AB3A-D7CC-3980-65106F4F6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2CC0B0-F0F1-9C32-1B65-F30CA207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69E419-E02A-7523-03D2-AAC11AC1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24A9B2-C7D7-79FA-0FE7-8898AB3E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657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0C9B1-CAD1-6A72-45D7-04C578AF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1E4F27-D579-08FA-DB7B-8E55A6166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04C47D-8437-D4E8-DA12-7ABDE8CE9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BF47024-1437-E353-8BAD-68486D8AE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8B9A3E-0435-3678-420B-6983C2ED46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013EF75-8CDB-CB19-4E71-A52CED7A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9664B37-3419-CFE7-A560-73B9D0921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B8562C-CC37-5716-8DD9-6EDB8436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858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08013-EB06-8BC6-444D-54B7FAE4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2CC64F-9F80-C5EA-D9D4-EBEEF8B26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5FA92F-7CA8-6202-1F5A-F7ADF7629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860014-D142-0318-B52A-57061813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6914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F52BC6-F41E-01C8-B1CB-F9D27543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A51874-B885-34F0-8E44-7F8AC3B6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AD7C2C-5DA3-546A-913B-AB297AD3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892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9A9D2-2CCB-4EDD-C6A8-50ECFEC0C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0D43CA-5261-9E58-3998-141AA1CB1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0DAED3-8CD1-4A55-6423-9A6354F7D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5A874-E95E-7792-89BB-7195BC56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7E0E5F-8A05-CDA0-E24E-8465A036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F0FFC8-57DF-F76E-9533-506A5B9C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042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62AD5-2A5F-1A96-8612-684D7F01B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E7513C-7E6C-9ABE-D697-3DE3C88A17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EF648-5F45-C77C-FADB-FC09ED42D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80D71B-6D3F-A130-5477-0E91E4FC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DEA6AF-3029-2AEC-BC25-3BA997F8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3B0E38-5D26-859E-5B8B-46A33E3E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319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68CA5-AD1F-F362-BE3A-1F62C3F3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915BA1-62EA-BC13-3DF4-A8BD78DE5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348839-4DD6-63B9-F44B-271525DF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E49AAF-BCAD-C9FD-1828-26310E20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FF8912-FBCE-D04D-8DE3-422325BF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1189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C653A2-44AB-5546-EB4C-CC44CE64E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EE1C8F-1654-41F5-BCC4-867B5DB92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68BFEC-206B-BD38-FEF2-1A3033E54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64C752-D480-B255-7D18-19B3C8DD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59792D-29C7-279F-00C1-033D3D6B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97270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9F64D-99AA-B54A-AD7F-4CDD32C78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1725"/>
            <a:ext cx="9144000" cy="1481138"/>
          </a:xfrm>
          <a:prstGeom prst="rect">
            <a:avLst/>
          </a:prstGeom>
        </p:spPr>
        <p:txBody>
          <a:bodyPr anchor="ctr"/>
          <a:lstStyle>
            <a:lvl1pPr algn="ctr">
              <a:defRPr sz="40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0AD138-6720-D147-849A-7FF793D20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3362"/>
            <a:ext cx="9144000" cy="12144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39184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188D0E7-AECF-FE48-A54E-3A11ADBB7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450"/>
            <a:ext cx="4919663" cy="1577975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39F137-9849-BD45-907D-592BD1E38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34137" y="679450"/>
            <a:ext cx="4919663" cy="4621213"/>
          </a:xfrm>
          <a:prstGeom prst="rect">
            <a:avLst/>
          </a:prstGeom>
        </p:spPr>
        <p:txBody>
          <a:bodyPr anchor="t"/>
          <a:lstStyle>
            <a:lvl1pPr marL="0" indent="0" algn="just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1pPr>
            <a:lvl2pPr marL="457200" indent="0" algn="just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2pPr>
            <a:lvl3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3pPr>
            <a:lvl4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4pPr>
            <a:lvl5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99924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879676A6-94F9-CA4F-ACBC-E2DF1AB971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34137" y="1357314"/>
            <a:ext cx="4919663" cy="3943350"/>
          </a:xfrm>
          <a:prstGeom prst="rect">
            <a:avLst/>
          </a:prstGeom>
        </p:spPr>
        <p:txBody>
          <a:bodyPr anchor="t"/>
          <a:lstStyle>
            <a:lvl1pPr marL="0" indent="0" algn="just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1pPr>
            <a:lvl2pPr marL="457200" indent="0" algn="just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2pPr>
            <a:lvl3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3pPr>
            <a:lvl4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4pPr>
            <a:lvl5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292D8B-B1EB-D14F-A44F-257468EFE7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7724" y="1357314"/>
            <a:ext cx="4919663" cy="3943350"/>
          </a:xfrm>
          <a:prstGeom prst="rect">
            <a:avLst/>
          </a:prstGeom>
        </p:spPr>
        <p:txBody>
          <a:bodyPr anchor="t"/>
          <a:lstStyle>
            <a:lvl1pPr marL="0" indent="0" algn="just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1pPr>
            <a:lvl2pPr marL="457200" indent="0" algn="just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2pPr>
            <a:lvl3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3pPr>
            <a:lvl4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4pPr>
            <a:lvl5pPr algn="just"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44717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9766F-2925-4A49-53FA-1EE957706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1BDA0E-7470-2F2B-7A40-4C240A58F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6DD96C-D3C7-4D88-D8FD-C8B301C7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8C95E0-12A4-1D80-5BEC-1ACCA476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7D032A-6223-4C50-E94A-04188DF23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989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4BEA9-B9CF-64A4-B97B-200D8D54C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4B3C89-BA97-0795-4A2C-9EAF98646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2F5A75-E23F-207E-BF8E-DE567BD76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0B8795-93A3-2C1C-88BE-964985C7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7AF7C7-6582-1A83-B9AD-59FDD785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7542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7D793-5E9D-1266-B3A4-6328B387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91927C-5D86-BFFE-9ABB-D0FE16E09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45423-CC66-48E9-8CE0-A8A27174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568FFA-AEF8-F290-FA31-8B052797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30174C-C3E7-9BCB-2E16-060AF125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46039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B982B-314D-8262-5034-E87983348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EED1C2-41E3-44EA-5F1D-03990A8EB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BC61CD-8AA5-7194-4A23-9393A263B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BD7DE7-8CBF-60E7-870D-8F393F543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168AD6-6711-DE84-0EE5-DC3FEA27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E3D4D5-8BCD-D17A-85BE-9F1B3A31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6628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D2E8B-7CE8-D544-D9F1-DCCC0142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61372A-592D-1421-21E1-89891FB66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6B4C07-063B-47DA-B412-015FD08A8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92EF80-5068-DAEF-5503-908DB2668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7ACAA8-A615-8700-0F35-21953DD652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5CC9ACF-C40B-6BD9-EB13-51A875C1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B03869-7444-7B05-D5C7-ECF0A123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7EA9F9-D4F3-5832-34DB-833072B8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451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E7D36-C250-3F40-2579-EF4E4A6DA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8EBCAD-D589-A3D9-0F4E-4E101602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3F0A5D-27DD-5C6C-D633-088A76EE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D02BC4-8CF2-4464-DD05-7B4F9D5B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33208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429485-E49B-8269-87DC-23BBFABD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B50ABE-99F8-D8A7-1188-B2C96807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51635E-06E5-3822-8547-F5062E81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78889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0BDF9-D087-8830-CF27-6397292E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D116D7-8601-2DF3-E754-CF8E2FC73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A075B3-037B-B540-125E-DEA9AB3B7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23DD9E-EE84-6F79-28DA-A15AECCC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EA994D-C1FC-A6C4-514F-17BEBF3A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17CA8F-10F0-C556-BE1B-0ED80D64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7944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9FBA8-FE27-43EA-B0A7-A7D554EC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EC5B4C7-40BA-F4F7-96DA-628C7B186B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B5EFB8-46F2-C4EF-3C89-1A7E8B9D8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E6A816-2A2D-8502-1C56-97B15FD5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386120-257E-1984-02EF-CCF4844B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5DD8CA-E0D4-AC75-ACCD-0B142C76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52739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9D99D-7BAF-652D-4A29-E00699E1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C8A119-2A55-6B60-DB3C-9B082A938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64C2CD-C22B-B30E-4920-E73E8B50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59B2A2-8088-3B82-B2E9-6D097C0D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B91996-B346-253E-FBD1-6D2622F6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94496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B23958-3E12-10A8-8505-1146C964E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7E6DBB-B0B6-55B7-0737-4D08BA543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CFC2E6-5CD9-BF2C-CCBE-D77A4BDB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9841DF-B3CF-7C7E-AF4E-B693C639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E3640A-F0AF-B56B-C84B-6B8C5DEC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849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1.jp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CFA67BF0-136C-9A57-4701-78AB475C31A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88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5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977C63C-2B28-97F6-883A-ED70056B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06E166-8779-89E5-DEB7-BFB3DF056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CCEA0-2405-0647-5FE1-0E823F676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EAFB4-08F5-4FBA-88FD-E29405FA529D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42554-6EF4-6221-0DCE-9FCC50ABB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640199-4E42-1A50-7EF9-A20C6C90D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705B1-B0CB-47E8-B884-AB8FC47D14B8}" type="slidenum">
              <a:rPr lang="es-CL" smtClean="0"/>
              <a:t>‹#›</a:t>
            </a:fld>
            <a:endParaRPr lang="es-CL"/>
          </a:p>
        </p:txBody>
      </p:sp>
      <p:pic>
        <p:nvPicPr>
          <p:cNvPr id="8" name="Imagen 7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AD847E4-69E5-5CE1-2503-201AD0F8C6D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6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3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D35F2C90-6F26-4C29-4CFA-15F9C043ED7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6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3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C5A29-65B6-0128-7365-9909FA74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7B410E-6FB4-5F20-6693-64F88D9CC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DE3491-2C4B-7B9A-C910-4F9B820B4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73A3E-640B-4F8F-B38F-23A260F86B35}" type="datetimeFigureOut">
              <a:rPr lang="es-CL" smtClean="0"/>
              <a:t>02-06-2026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D1E1C-0B0F-CF7F-5394-71E6D97BF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CC6D2-C810-9ED2-A841-A8535B62B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49EEB-3A02-4A2A-8249-6324D1A0B4A1}" type="slidenum">
              <a:rPr lang="es-CL" smtClean="0"/>
              <a:t>‹#›</a:t>
            </a:fld>
            <a:endParaRPr lang="es-CL"/>
          </a:p>
        </p:txBody>
      </p:sp>
      <p:pic>
        <p:nvPicPr>
          <p:cNvPr id="8" name="Imagen 7" descr="Imagen que contiene Sitio web&#10;&#10;El contenido generado por IA puede ser incorrecto.">
            <a:extLst>
              <a:ext uri="{FF2B5EF4-FFF2-40B4-BE49-F238E27FC236}">
                <a16:creationId xmlns:a16="http://schemas.microsoft.com/office/drawing/2014/main" id="{1A723F60-7A8C-C043-A3BA-252949C92F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88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10" Type="http://schemas.openxmlformats.org/officeDocument/2006/relationships/image" Target="../media/image15.png"/><Relationship Id="rId4" Type="http://schemas.openxmlformats.org/officeDocument/2006/relationships/image" Target="../media/image9.Default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A591EA4-DD3A-8B32-4FD0-E5538F0A5A0D}"/>
              </a:ext>
            </a:extLst>
          </p:cNvPr>
          <p:cNvSpPr txBox="1"/>
          <p:nvPr/>
        </p:nvSpPr>
        <p:spPr>
          <a:xfrm>
            <a:off x="112294" y="2795349"/>
            <a:ext cx="1196741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udy Old Style" panose="02020502050305020303" pitchFamily="18" charset="0"/>
                <a:ea typeface="+mn-ea"/>
                <a:cs typeface="+mn-cs"/>
              </a:rPr>
              <a:t>Gestión de vulnerabilidades en la cadena de suministro de software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 pitchFamily="18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 pitchFamily="18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 panose="020205020503050203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udy Old Style" panose="02020502050305020303" pitchFamily="18" charset="0"/>
                <a:ea typeface="+mn-ea"/>
                <a:cs typeface="+mn-cs"/>
              </a:rPr>
              <a:t>EMI305 – Producción de Software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udy Old Style" panose="02020502050305020303" pitchFamily="18" charset="0"/>
                <a:ea typeface="+mn-ea"/>
                <a:cs typeface="+mn-cs"/>
              </a:rPr>
              <a:t>Alumno: Ing. Eric Ramos Aragón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udy Old Style" panose="02020502050305020303" pitchFamily="18" charset="0"/>
                <a:ea typeface="+mn-ea"/>
                <a:cs typeface="+mn-cs"/>
              </a:rPr>
              <a:t>Programa: Magíster en Ingeniería Informática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228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69"/>
    </mc:Choice>
    <mc:Fallback xmlns="">
      <p:transition spd="slow" advTm="202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2F8B-A953-C034-B645-20B6B658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62050-B327-9C84-DB43-A02AE5B6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80" y="1005712"/>
            <a:ext cx="3932237" cy="3145663"/>
          </a:xfrm>
        </p:spPr>
        <p:txBody>
          <a:bodyPr/>
          <a:lstStyle/>
          <a:p>
            <a:r>
              <a:rPr lang="es-CL" sz="4800" b="1" dirty="0">
                <a:solidFill>
                  <a:schemeClr val="bg1"/>
                </a:solidFill>
                <a:latin typeface="Goudy Old Style" panose="02020502050305020303" pitchFamily="18" charset="0"/>
              </a:rPr>
              <a:t>Objetivo y metodología</a:t>
            </a:r>
            <a:endParaRPr lang="es-CL" b="1" dirty="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EF54A7-165E-22A9-42ED-0B4EFC1B8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463" y="208547"/>
            <a:ext cx="5727032" cy="577515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Objetivo:</a:t>
            </a:r>
          </a:p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Analizar vulnerabilidades presentes en repositorios públicos de GitHub y proponer una estrategia de gestión basada en evidencia.</a:t>
            </a:r>
          </a:p>
          <a:p>
            <a:pPr marL="0" indent="0" algn="just">
              <a:buNone/>
            </a:pPr>
            <a:endParaRPr lang="es-ES" sz="28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Metodología: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generar </a:t>
            </a:r>
            <a:r>
              <a:rPr lang="es-ES" sz="2800" dirty="0" err="1">
                <a:latin typeface="Goudy Old Style" panose="02020502050305020303" pitchFamily="18" charset="0"/>
              </a:rPr>
              <a:t>SBOMs</a:t>
            </a:r>
            <a:r>
              <a:rPr lang="es-ES" sz="2800" dirty="0">
                <a:latin typeface="Goudy Old Style" panose="02020502050305020303" pitchFamily="18" charset="0"/>
              </a:rPr>
              <a:t>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identificar vulnerabilidades,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realizar análisis estático,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revisar los </a:t>
            </a:r>
            <a:r>
              <a:rPr lang="es-ES" sz="2800" dirty="0" err="1">
                <a:latin typeface="Goudy Old Style" panose="02020502050305020303" pitchFamily="18" charset="0"/>
              </a:rPr>
              <a:t>workflows</a:t>
            </a:r>
            <a:r>
              <a:rPr lang="es-ES" sz="2800" dirty="0">
                <a:latin typeface="Goudy Old Style" panose="02020502050305020303" pitchFamily="18" charset="0"/>
              </a:rPr>
              <a:t> CI/CD.</a:t>
            </a:r>
          </a:p>
        </p:txBody>
      </p:sp>
    </p:spTree>
    <p:extLst>
      <p:ext uri="{BB962C8B-B14F-4D97-AF65-F5344CB8AC3E}">
        <p14:creationId xmlns:p14="http://schemas.microsoft.com/office/powerpoint/2010/main" val="40288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9FC5C-5D7B-B764-D021-F536E102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92F2FF4E-9C3D-BA96-A3FA-9CC1C6D1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58609"/>
            <a:ext cx="6697717" cy="1338536"/>
          </a:xfrm>
        </p:spPr>
        <p:txBody>
          <a:bodyPr/>
          <a:lstStyle/>
          <a:p>
            <a:r>
              <a:rPr lang="es-CL" dirty="0">
                <a:latin typeface="Goudy Old Style" panose="02020502050305020303" pitchFamily="18" charset="0"/>
              </a:rPr>
              <a:t>Repositorios analizados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3F1AF9-BA64-4A9C-9670-ADCBAFEC2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214597"/>
              </p:ext>
            </p:extLst>
          </p:nvPr>
        </p:nvGraphicFramePr>
        <p:xfrm>
          <a:off x="838198" y="910430"/>
          <a:ext cx="9340970" cy="3471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85">
                  <a:extLst>
                    <a:ext uri="{9D8B030D-6E8A-4147-A177-3AD203B41FA5}">
                      <a16:colId xmlns:a16="http://schemas.microsoft.com/office/drawing/2014/main" val="1070492287"/>
                    </a:ext>
                  </a:extLst>
                </a:gridCol>
                <a:gridCol w="4670485">
                  <a:extLst>
                    <a:ext uri="{9D8B030D-6E8A-4147-A177-3AD203B41FA5}">
                      <a16:colId xmlns:a16="http://schemas.microsoft.com/office/drawing/2014/main" val="1248608672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Repositorio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Tecnología principal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866771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app_biblio_gestion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988924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claude</a:t>
                      </a:r>
                      <a:r>
                        <a:rPr lang="en-US" dirty="0"/>
                        <a:t>-code-action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51237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genai</a:t>
                      </a:r>
                      <a:r>
                        <a:rPr lang="en-US" dirty="0"/>
                        <a:t>-code-review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639487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great-joy-taxi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24224"/>
                  </a:ext>
                </a:extLst>
              </a:tr>
              <a:tr h="57193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opencode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637241"/>
                  </a:ext>
                </a:extLst>
              </a:tr>
            </a:tbl>
          </a:graphicData>
        </a:graphic>
      </p:graphicFrame>
      <p:sp>
        <p:nvSpPr>
          <p:cNvPr id="3" name="Título 8">
            <a:extLst>
              <a:ext uri="{FF2B5EF4-FFF2-40B4-BE49-F238E27FC236}">
                <a16:creationId xmlns:a16="http://schemas.microsoft.com/office/drawing/2014/main" id="{AA75F4A3-147F-B56B-8CA4-11425B8116F7}"/>
              </a:ext>
            </a:extLst>
          </p:cNvPr>
          <p:cNvSpPr txBox="1">
            <a:spLocks/>
          </p:cNvSpPr>
          <p:nvPr/>
        </p:nvSpPr>
        <p:spPr>
          <a:xfrm>
            <a:off x="838198" y="5020135"/>
            <a:ext cx="6697717" cy="13385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CL" dirty="0">
                <a:latin typeface="Goudy Old Style" panose="02020502050305020303" pitchFamily="18" charset="0"/>
              </a:rPr>
              <a:t>Herramientas utilizadas: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387D4-51C6-07D3-EA7B-E5459243F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56" y="4598388"/>
            <a:ext cx="959244" cy="1277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D19058-A926-EEA5-F8C0-B65AEF330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987" y="4499214"/>
            <a:ext cx="959244" cy="14511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B46142-48A9-96F6-BDC5-2F9AD40BD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618" y="4652438"/>
            <a:ext cx="1032085" cy="10320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4F19BE-F656-A760-EC48-FD38B2A994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94" t="17839" r="33032" b="12657"/>
          <a:stretch>
            <a:fillRect/>
          </a:stretch>
        </p:blipFill>
        <p:spPr>
          <a:xfrm>
            <a:off x="8889090" y="4565045"/>
            <a:ext cx="959244" cy="1206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523A05-1F8B-3327-5BDC-6AA4765DEB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781" y="1579698"/>
            <a:ext cx="406405" cy="4154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86977F-EBD1-91BC-0308-EB97E5554D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14"/>
          <a:stretch>
            <a:fillRect/>
          </a:stretch>
        </p:blipFill>
        <p:spPr>
          <a:xfrm>
            <a:off x="7220867" y="3667229"/>
            <a:ext cx="837205" cy="6671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074A0E-6320-9F97-5016-3CBA2DEA63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692" y="3284516"/>
            <a:ext cx="937556" cy="5249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B85B3C-17EE-036A-01B4-52A1EB9080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160" y="2074252"/>
            <a:ext cx="490621" cy="5454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2FB6E88-BEEC-135B-66A6-6CD5F09A35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23" r="31041" b="20712"/>
          <a:stretch>
            <a:fillRect/>
          </a:stretch>
        </p:blipFill>
        <p:spPr>
          <a:xfrm>
            <a:off x="8291186" y="1962978"/>
            <a:ext cx="522330" cy="6831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623F6C5-10FC-D4BB-5408-E4E474D7A1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781" y="2698831"/>
            <a:ext cx="406405" cy="4154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B15F73-C3FD-A69C-2BB6-57F80FEED4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148" y="3339248"/>
            <a:ext cx="406405" cy="4154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45B4FB-AB73-5476-98EA-517D424E1E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039" y="3824009"/>
            <a:ext cx="490621" cy="54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1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13"/>
    </mc:Choice>
    <mc:Fallback xmlns="">
      <p:transition spd="slow" advTm="3321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3068-FD2A-175A-3D9A-2D553D8B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3FB749C-CE55-99D0-8100-B14C4A0B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008"/>
            <a:ext cx="6697717" cy="1338536"/>
          </a:xfrm>
        </p:spPr>
        <p:txBody>
          <a:bodyPr/>
          <a:lstStyle/>
          <a:p>
            <a:r>
              <a:rPr lang="es-CL" dirty="0">
                <a:latin typeface="Goudy Old Style" panose="02020502050305020303" pitchFamily="18" charset="0"/>
              </a:rPr>
              <a:t>Vulnerabilidades identificadas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3224C0-DC5C-E72B-E74B-318AC7654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015921"/>
              </p:ext>
            </p:extLst>
          </p:nvPr>
        </p:nvGraphicFramePr>
        <p:xfrm>
          <a:off x="838200" y="904759"/>
          <a:ext cx="9340970" cy="3471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85">
                  <a:extLst>
                    <a:ext uri="{9D8B030D-6E8A-4147-A177-3AD203B41FA5}">
                      <a16:colId xmlns:a16="http://schemas.microsoft.com/office/drawing/2014/main" val="1070492287"/>
                    </a:ext>
                  </a:extLst>
                </a:gridCol>
                <a:gridCol w="4670485">
                  <a:extLst>
                    <a:ext uri="{9D8B030D-6E8A-4147-A177-3AD203B41FA5}">
                      <a16:colId xmlns:a16="http://schemas.microsoft.com/office/drawing/2014/main" val="1248608672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Repositorio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Vulnerabilidades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866771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app_biblio_gestion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988924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claude</a:t>
                      </a:r>
                      <a:r>
                        <a:rPr lang="en-US" dirty="0"/>
                        <a:t>-code-action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51237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genai</a:t>
                      </a:r>
                      <a:r>
                        <a:rPr lang="en-US" dirty="0"/>
                        <a:t>-code-review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639487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great-joy-taxi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24224"/>
                  </a:ext>
                </a:extLst>
              </a:tr>
              <a:tr h="57193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opencode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637241"/>
                  </a:ext>
                </a:extLst>
              </a:tr>
            </a:tbl>
          </a:graphicData>
        </a:graphic>
      </p:graphicFrame>
      <p:sp>
        <p:nvSpPr>
          <p:cNvPr id="3" name="Título 8">
            <a:extLst>
              <a:ext uri="{FF2B5EF4-FFF2-40B4-BE49-F238E27FC236}">
                <a16:creationId xmlns:a16="http://schemas.microsoft.com/office/drawing/2014/main" id="{A050A1CF-69B4-DB24-0F17-0ED726725476}"/>
              </a:ext>
            </a:extLst>
          </p:cNvPr>
          <p:cNvSpPr txBox="1">
            <a:spLocks/>
          </p:cNvSpPr>
          <p:nvPr/>
        </p:nvSpPr>
        <p:spPr>
          <a:xfrm>
            <a:off x="838198" y="4846473"/>
            <a:ext cx="6697717" cy="13385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CL" dirty="0">
                <a:latin typeface="Goudy Old Style" panose="02020502050305020303" pitchFamily="18" charset="0"/>
              </a:rPr>
              <a:t>Resultado global: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03302-020B-708C-5E3A-0B19D22780BE}"/>
              </a:ext>
            </a:extLst>
          </p:cNvPr>
          <p:cNvSpPr txBox="1"/>
          <p:nvPr/>
        </p:nvSpPr>
        <p:spPr>
          <a:xfrm>
            <a:off x="3824172" y="4846473"/>
            <a:ext cx="74234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udy Old Style" panose="02020502050305020303" pitchFamily="18" charset="0"/>
                <a:ea typeface="+mn-ea"/>
                <a:cs typeface="+mn-cs"/>
              </a:rPr>
              <a:t>24 vulnerabilidades identificadas en 5 repositorios analizados.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68505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13"/>
    </mc:Choice>
    <mc:Fallback xmlns="">
      <p:transition spd="slow" advTm="3321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869B3-A1C4-CB37-C4A9-743B4A00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E8DBC-EA61-F620-DBC9-27CB7982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80" y="1005712"/>
            <a:ext cx="3932237" cy="3145663"/>
          </a:xfrm>
        </p:spPr>
        <p:txBody>
          <a:bodyPr>
            <a:normAutofit/>
          </a:bodyPr>
          <a:lstStyle/>
          <a:p>
            <a:r>
              <a:rPr lang="es-CL" sz="4800" b="1" dirty="0">
                <a:solidFill>
                  <a:schemeClr val="bg1"/>
                </a:solidFill>
                <a:latin typeface="Goudy Old Style" panose="02020502050305020303" pitchFamily="18" charset="0"/>
              </a:rPr>
              <a:t>Vector 1: Dependencias y código fuente</a:t>
            </a:r>
            <a:endParaRPr lang="es-CL" b="1" dirty="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C5603A-A3B7-53A5-F2CD-C3E8C3F9E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463" y="445167"/>
            <a:ext cx="5727032" cy="596766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Hallazgos principales: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HTTP Request </a:t>
            </a:r>
            <a:r>
              <a:rPr lang="es-ES" sz="2800" dirty="0" err="1">
                <a:latin typeface="Goudy Old Style" panose="02020502050305020303" pitchFamily="18" charset="0"/>
              </a:rPr>
              <a:t>Smuggling</a:t>
            </a:r>
            <a:r>
              <a:rPr lang="es-ES" sz="2800" dirty="0">
                <a:latin typeface="Goudy Old Style" panose="02020502050305020303" pitchFamily="18" charset="0"/>
              </a:rPr>
              <a:t> (</a:t>
            </a:r>
            <a:r>
              <a:rPr lang="es-ES" sz="2800" dirty="0" err="1">
                <a:latin typeface="Goudy Old Style" panose="02020502050305020303" pitchFamily="18" charset="0"/>
              </a:rPr>
              <a:t>undici</a:t>
            </a:r>
            <a:r>
              <a:rPr lang="es-ES" sz="2800" dirty="0">
                <a:latin typeface="Goudy Old Style" panose="02020502050305020303" pitchFamily="18" charset="0"/>
              </a:rPr>
              <a:t>),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CRLF </a:t>
            </a:r>
            <a:r>
              <a:rPr lang="es-ES" sz="2800" dirty="0" err="1">
                <a:latin typeface="Goudy Old Style" panose="02020502050305020303" pitchFamily="18" charset="0"/>
              </a:rPr>
              <a:t>Injection</a:t>
            </a:r>
            <a:r>
              <a:rPr lang="es-ES" sz="2800" dirty="0">
                <a:latin typeface="Goudy Old Style" panose="02020502050305020303" pitchFamily="18" charset="0"/>
              </a:rPr>
              <a:t> (</a:t>
            </a:r>
            <a:r>
              <a:rPr lang="es-ES" sz="2800" dirty="0" err="1">
                <a:latin typeface="Goudy Old Style" panose="02020502050305020303" pitchFamily="18" charset="0"/>
              </a:rPr>
              <a:t>undici</a:t>
            </a:r>
            <a:r>
              <a:rPr lang="es-ES" sz="2800" dirty="0">
                <a:latin typeface="Goudy Old Style" panose="02020502050305020303" pitchFamily="18" charset="0"/>
              </a:rPr>
              <a:t>),</a:t>
            </a:r>
          </a:p>
          <a:p>
            <a:pPr algn="just"/>
            <a:r>
              <a:rPr lang="es-ES" sz="2800" dirty="0" err="1">
                <a:latin typeface="Goudy Old Style" panose="02020502050305020303" pitchFamily="18" charset="0"/>
              </a:rPr>
              <a:t>Credential</a:t>
            </a:r>
            <a:r>
              <a:rPr lang="es-ES" sz="2800" dirty="0">
                <a:latin typeface="Goudy Old Style" panose="02020502050305020303" pitchFamily="18" charset="0"/>
              </a:rPr>
              <a:t> Leak (</a:t>
            </a:r>
            <a:r>
              <a:rPr lang="es-ES" sz="2800" dirty="0" err="1">
                <a:latin typeface="Goudy Old Style" panose="02020502050305020303" pitchFamily="18" charset="0"/>
              </a:rPr>
              <a:t>requests</a:t>
            </a:r>
            <a:r>
              <a:rPr lang="es-ES" sz="2800" dirty="0">
                <a:latin typeface="Goudy Old Style" panose="02020502050305020303" pitchFamily="18" charset="0"/>
              </a:rPr>
              <a:t>),</a:t>
            </a:r>
          </a:p>
          <a:p>
            <a:pPr algn="just"/>
            <a:r>
              <a:rPr lang="es-ES" sz="2800" dirty="0" err="1">
                <a:latin typeface="Goudy Old Style" panose="02020502050305020303" pitchFamily="18" charset="0"/>
              </a:rPr>
              <a:t>Integer</a:t>
            </a:r>
            <a:r>
              <a:rPr lang="es-ES" sz="2800" dirty="0">
                <a:latin typeface="Goudy Old Style" panose="02020502050305020303" pitchFamily="18" charset="0"/>
              </a:rPr>
              <a:t> </a:t>
            </a:r>
            <a:r>
              <a:rPr lang="es-ES" sz="2800" dirty="0" err="1">
                <a:latin typeface="Goudy Old Style" panose="02020502050305020303" pitchFamily="18" charset="0"/>
              </a:rPr>
              <a:t>Overflow</a:t>
            </a:r>
            <a:r>
              <a:rPr lang="es-ES" sz="2800" dirty="0">
                <a:latin typeface="Goudy Old Style" panose="02020502050305020303" pitchFamily="18" charset="0"/>
              </a:rPr>
              <a:t> (bytes),</a:t>
            </a:r>
          </a:p>
          <a:p>
            <a:pPr algn="just"/>
            <a:r>
              <a:rPr lang="es-ES" sz="2800" dirty="0" err="1">
                <a:latin typeface="Goudy Old Style" panose="02020502050305020303" pitchFamily="18" charset="0"/>
              </a:rPr>
              <a:t>Symlink</a:t>
            </a:r>
            <a:r>
              <a:rPr lang="es-ES" sz="2800" dirty="0">
                <a:latin typeface="Goudy Old Style" panose="02020502050305020303" pitchFamily="18" charset="0"/>
              </a:rPr>
              <a:t> Abuse (</a:t>
            </a:r>
            <a:r>
              <a:rPr lang="es-ES" sz="2800" dirty="0" err="1">
                <a:latin typeface="Goudy Old Style" panose="02020502050305020303" pitchFamily="18" charset="0"/>
              </a:rPr>
              <a:t>tar-rs</a:t>
            </a:r>
            <a:r>
              <a:rPr lang="es-ES" sz="2800" dirty="0">
                <a:latin typeface="Goudy Old Style" panose="02020502050305020303" pitchFamily="18" charset="0"/>
              </a:rPr>
              <a:t>),</a:t>
            </a:r>
          </a:p>
          <a:p>
            <a:pPr algn="just"/>
            <a:r>
              <a:rPr lang="es-ES" sz="2800" dirty="0" err="1">
                <a:latin typeface="Goudy Old Style" panose="02020502050305020303" pitchFamily="18" charset="0"/>
              </a:rPr>
              <a:t>Origin</a:t>
            </a:r>
            <a:r>
              <a:rPr lang="es-ES" sz="2800" dirty="0">
                <a:latin typeface="Goudy Old Style" panose="02020502050305020303" pitchFamily="18" charset="0"/>
              </a:rPr>
              <a:t> </a:t>
            </a:r>
            <a:r>
              <a:rPr lang="es-ES" sz="2800" dirty="0" err="1">
                <a:latin typeface="Goudy Old Style" panose="02020502050305020303" pitchFamily="18" charset="0"/>
              </a:rPr>
              <a:t>Confusion</a:t>
            </a:r>
            <a:r>
              <a:rPr lang="es-ES" sz="2800" dirty="0">
                <a:latin typeface="Goudy Old Style" panose="02020502050305020303" pitchFamily="18" charset="0"/>
              </a:rPr>
              <a:t> (</a:t>
            </a:r>
            <a:r>
              <a:rPr lang="es-ES" sz="2800" dirty="0" err="1">
                <a:latin typeface="Goudy Old Style" panose="02020502050305020303" pitchFamily="18" charset="0"/>
              </a:rPr>
              <a:t>tauri</a:t>
            </a:r>
            <a:r>
              <a:rPr lang="es-ES" sz="2800" dirty="0">
                <a:latin typeface="Goudy Old Style" panose="02020502050305020303" pitchFamily="18" charset="0"/>
              </a:rPr>
              <a:t>).</a:t>
            </a:r>
          </a:p>
          <a:p>
            <a:pPr marL="0" indent="0" algn="just">
              <a:buNone/>
            </a:pPr>
            <a:endParaRPr lang="es-ES" sz="18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Riesgo:</a:t>
            </a:r>
          </a:p>
          <a:p>
            <a:pPr marL="0" indent="0">
              <a:buNone/>
            </a:pPr>
            <a:r>
              <a:rPr lang="es-ES" sz="2800" dirty="0">
                <a:latin typeface="Goudy Old Style" panose="02020502050305020303" pitchFamily="18" charset="0"/>
              </a:rPr>
              <a:t>Las vulnerabilidades afectan componentes externos utilizados directamente por las aplicaciones analizadas.</a:t>
            </a:r>
          </a:p>
          <a:p>
            <a:pPr marL="0" indent="0" algn="just">
              <a:buNone/>
            </a:pPr>
            <a:endParaRPr lang="es-ES" sz="2800" dirty="0"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460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28F50-2F27-3561-4238-5D16EAD8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763E5-29D7-FCBD-8DF4-141D02537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80" y="1005712"/>
            <a:ext cx="3932237" cy="3145663"/>
          </a:xfrm>
        </p:spPr>
        <p:txBody>
          <a:bodyPr>
            <a:normAutofit/>
          </a:bodyPr>
          <a:lstStyle/>
          <a:p>
            <a:r>
              <a:rPr lang="es-CL" sz="4800" b="1" dirty="0">
                <a:solidFill>
                  <a:schemeClr val="bg1"/>
                </a:solidFill>
                <a:latin typeface="Goudy Old Style" panose="02020502050305020303" pitchFamily="18" charset="0"/>
              </a:rPr>
              <a:t>Vector 2: Pipelines CI/CD</a:t>
            </a:r>
            <a:endParaRPr lang="es-CL" b="1" dirty="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B6003E-9980-789A-7A90-FE194BBC9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463" y="445167"/>
            <a:ext cx="5727032" cy="5967665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Configuraciones observadas: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Uso de </a:t>
            </a:r>
            <a:r>
              <a:rPr lang="es-ES" sz="2800" dirty="0" err="1">
                <a:latin typeface="Goudy Old Style" panose="02020502050305020303" pitchFamily="18" charset="0"/>
              </a:rPr>
              <a:t>pull_request_target</a:t>
            </a:r>
            <a:r>
              <a:rPr lang="es-ES" sz="2800" dirty="0">
                <a:latin typeface="Goudy Old Style" panose="02020502050305020303" pitchFamily="18" charset="0"/>
              </a:rPr>
              <a:t>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Permisos elevados:</a:t>
            </a:r>
          </a:p>
          <a:p>
            <a:pPr lvl="1" algn="just"/>
            <a:r>
              <a:rPr lang="es-ES" sz="2400" dirty="0" err="1">
                <a:latin typeface="Goudy Old Style" panose="02020502050305020303" pitchFamily="18" charset="0"/>
              </a:rPr>
              <a:t>contents</a:t>
            </a:r>
            <a:r>
              <a:rPr lang="es-ES" sz="2400" dirty="0">
                <a:latin typeface="Goudy Old Style" panose="02020502050305020303" pitchFamily="18" charset="0"/>
              </a:rPr>
              <a:t>: </a:t>
            </a:r>
            <a:r>
              <a:rPr lang="es-ES" sz="2400" dirty="0" err="1">
                <a:latin typeface="Goudy Old Style" panose="02020502050305020303" pitchFamily="18" charset="0"/>
              </a:rPr>
              <a:t>write</a:t>
            </a:r>
            <a:r>
              <a:rPr lang="es-ES" sz="2400" dirty="0">
                <a:latin typeface="Goudy Old Style" panose="02020502050305020303" pitchFamily="18" charset="0"/>
              </a:rPr>
              <a:t>,</a:t>
            </a:r>
          </a:p>
          <a:p>
            <a:pPr lvl="1" algn="just"/>
            <a:r>
              <a:rPr lang="es-ES" sz="2400" dirty="0" err="1">
                <a:latin typeface="Goudy Old Style" panose="02020502050305020303" pitchFamily="18" charset="0"/>
              </a:rPr>
              <a:t>issues</a:t>
            </a:r>
            <a:r>
              <a:rPr lang="es-ES" sz="2400" dirty="0">
                <a:latin typeface="Goudy Old Style" panose="02020502050305020303" pitchFamily="18" charset="0"/>
              </a:rPr>
              <a:t>: </a:t>
            </a:r>
            <a:r>
              <a:rPr lang="es-ES" sz="2400" dirty="0" err="1">
                <a:latin typeface="Goudy Old Style" panose="02020502050305020303" pitchFamily="18" charset="0"/>
              </a:rPr>
              <a:t>write</a:t>
            </a:r>
            <a:r>
              <a:rPr lang="es-ES" sz="2400" dirty="0">
                <a:latin typeface="Goudy Old Style" panose="02020502050305020303" pitchFamily="18" charset="0"/>
              </a:rPr>
              <a:t>,</a:t>
            </a:r>
          </a:p>
          <a:p>
            <a:pPr lvl="1" algn="just"/>
            <a:r>
              <a:rPr lang="es-ES" sz="2400" dirty="0" err="1">
                <a:latin typeface="Goudy Old Style" panose="02020502050305020303" pitchFamily="18" charset="0"/>
              </a:rPr>
              <a:t>pull</a:t>
            </a:r>
            <a:r>
              <a:rPr lang="es-ES" sz="2400" dirty="0">
                <a:latin typeface="Goudy Old Style" panose="02020502050305020303" pitchFamily="18" charset="0"/>
              </a:rPr>
              <a:t>-request: </a:t>
            </a:r>
            <a:r>
              <a:rPr lang="es-ES" sz="2400" dirty="0" err="1">
                <a:latin typeface="Goudy Old Style" panose="02020502050305020303" pitchFamily="18" charset="0"/>
              </a:rPr>
              <a:t>write</a:t>
            </a:r>
            <a:r>
              <a:rPr lang="es-ES" sz="2400" dirty="0">
                <a:latin typeface="Goudy Old Style" panose="02020502050305020303" pitchFamily="18" charset="0"/>
              </a:rPr>
              <a:t>,</a:t>
            </a:r>
          </a:p>
          <a:p>
            <a:pPr lvl="1" algn="just"/>
            <a:r>
              <a:rPr lang="es-ES" sz="2400" dirty="0">
                <a:latin typeface="Goudy Old Style" panose="02020502050305020303" pitchFamily="18" charset="0"/>
              </a:rPr>
              <a:t>id-token: </a:t>
            </a:r>
            <a:r>
              <a:rPr lang="es-ES" sz="2400" dirty="0" err="1">
                <a:latin typeface="Goudy Old Style" panose="02020502050305020303" pitchFamily="18" charset="0"/>
              </a:rPr>
              <a:t>write</a:t>
            </a:r>
            <a:r>
              <a:rPr lang="es-ES" sz="2400" dirty="0">
                <a:latin typeface="Goudy Old Style" panose="02020502050305020303" pitchFamily="18" charset="0"/>
              </a:rPr>
              <a:t>.</a:t>
            </a:r>
          </a:p>
          <a:p>
            <a:pPr marL="0" indent="0" algn="just">
              <a:buNone/>
            </a:pPr>
            <a:endParaRPr lang="es-ES" sz="18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Dependencias CI/CD:</a:t>
            </a:r>
          </a:p>
          <a:p>
            <a:pPr algn="just"/>
            <a:r>
              <a:rPr lang="es-ES" sz="2800" dirty="0" err="1">
                <a:latin typeface="Goudy Old Style" panose="02020502050305020303" pitchFamily="18" charset="0"/>
              </a:rPr>
              <a:t>actions</a:t>
            </a:r>
            <a:r>
              <a:rPr lang="es-ES" sz="2800" dirty="0">
                <a:latin typeface="Goudy Old Style" panose="02020502050305020303" pitchFamily="18" charset="0"/>
              </a:rPr>
              <a:t>/download-artifact@v4,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Uso de referencias:</a:t>
            </a:r>
          </a:p>
          <a:p>
            <a:pPr lvl="1" algn="just"/>
            <a:r>
              <a:rPr lang="es-ES" sz="2400" dirty="0">
                <a:latin typeface="Goudy Old Style" panose="02020502050305020303" pitchFamily="18" charset="0"/>
              </a:rPr>
              <a:t>@main,</a:t>
            </a:r>
          </a:p>
          <a:p>
            <a:pPr lvl="1" algn="just"/>
            <a:r>
              <a:rPr lang="es-ES" sz="2400" dirty="0">
                <a:latin typeface="Goudy Old Style" panose="02020502050305020303" pitchFamily="18" charset="0"/>
              </a:rPr>
              <a:t>@latest.</a:t>
            </a:r>
          </a:p>
          <a:p>
            <a:pPr marL="0" indent="0" algn="just">
              <a:buNone/>
            </a:pPr>
            <a:endParaRPr lang="es-ES" sz="1800" dirty="0">
              <a:latin typeface="Goudy Old Style" panose="02020502050305020303" pitchFamily="18" charset="0"/>
            </a:endParaRPr>
          </a:p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Riesgo:</a:t>
            </a:r>
          </a:p>
          <a:p>
            <a:pPr marL="0" indent="0">
              <a:buNone/>
            </a:pPr>
            <a:r>
              <a:rPr lang="es-ES" sz="2800" dirty="0">
                <a:latin typeface="Goudy Old Style" panose="02020502050305020303" pitchFamily="18" charset="0"/>
              </a:rPr>
              <a:t>Mayor superficie de ataque ante compromisos del pipeline o acciones de terceros.</a:t>
            </a:r>
          </a:p>
          <a:p>
            <a:pPr marL="0" indent="0" algn="just">
              <a:buNone/>
            </a:pPr>
            <a:endParaRPr lang="es-ES" sz="2800" dirty="0"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34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3624A-789D-5F93-85C2-407C7EEF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AA100-0615-5F57-6277-8EF020E5E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80" y="1005712"/>
            <a:ext cx="3932237" cy="3145663"/>
          </a:xfrm>
        </p:spPr>
        <p:txBody>
          <a:bodyPr>
            <a:normAutofit/>
          </a:bodyPr>
          <a:lstStyle/>
          <a:p>
            <a:r>
              <a:rPr lang="es-CL" sz="4800" b="1" dirty="0">
                <a:solidFill>
                  <a:schemeClr val="bg1"/>
                </a:solidFill>
                <a:latin typeface="Goudy Old Style" panose="02020502050305020303" pitchFamily="18" charset="0"/>
              </a:rPr>
              <a:t>Vector 3: Factor humano</a:t>
            </a:r>
            <a:endParaRPr lang="es-CL" b="1" dirty="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8E6E49-9FB5-6860-19EF-56669BAA1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463" y="445167"/>
            <a:ext cx="5727032" cy="596766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2800" dirty="0">
                <a:latin typeface="Goudy Old Style" panose="02020502050305020303" pitchFamily="18" charset="0"/>
              </a:rPr>
              <a:t>Riesgos identificados: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Uso inconsistente de versión </a:t>
            </a:r>
            <a:r>
              <a:rPr lang="es-ES" sz="2800" dirty="0" err="1">
                <a:latin typeface="Goudy Old Style" panose="02020502050305020303" pitchFamily="18" charset="0"/>
              </a:rPr>
              <a:t>pinning</a:t>
            </a:r>
            <a:r>
              <a:rPr lang="es-ES" sz="2800" dirty="0">
                <a:latin typeface="Goudy Old Style" panose="02020502050305020303" pitchFamily="18" charset="0"/>
              </a:rPr>
              <a:t>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Dependencia de automatizaciones externas,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Revisión insuficiente de permisos,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Actualización no sistemática de dependencias,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Necesidad de monitoreo continuo.</a:t>
            </a:r>
          </a:p>
          <a:p>
            <a:pPr marL="0" indent="0">
              <a:buNone/>
            </a:pPr>
            <a:endParaRPr lang="es-ES" sz="2800" dirty="0"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s-ES" sz="2800" dirty="0">
                <a:latin typeface="Goudy Old Style" panose="02020502050305020303" pitchFamily="18" charset="0"/>
              </a:rPr>
              <a:t>Impacto:</a:t>
            </a:r>
          </a:p>
          <a:p>
            <a:pPr marL="0" indent="0">
              <a:buNone/>
            </a:pPr>
            <a:r>
              <a:rPr lang="es-ES" sz="2800" dirty="0">
                <a:latin typeface="Goudy Old Style" panose="02020502050305020303" pitchFamily="18" charset="0"/>
              </a:rPr>
              <a:t>Las decisiones operacionales pueden amplificar el impacto de vulnerabilidades técnicas.</a:t>
            </a:r>
          </a:p>
          <a:p>
            <a:pPr marL="0" indent="0" algn="just">
              <a:buNone/>
            </a:pPr>
            <a:endParaRPr lang="es-ES" sz="2800" dirty="0"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39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75A59-46DA-5610-9464-7D853788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E119D51-2D52-9F5F-0567-EAED7EAB7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008"/>
            <a:ext cx="6697717" cy="1338536"/>
          </a:xfrm>
        </p:spPr>
        <p:txBody>
          <a:bodyPr/>
          <a:lstStyle/>
          <a:p>
            <a:r>
              <a:rPr lang="es-CL" dirty="0">
                <a:latin typeface="Goudy Old Style" panose="02020502050305020303" pitchFamily="18" charset="0"/>
              </a:rPr>
              <a:t>Priorización de vulnerabilidades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B12663-63BE-AE92-9BD5-882410E67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461258"/>
              </p:ext>
            </p:extLst>
          </p:nvPr>
        </p:nvGraphicFramePr>
        <p:xfrm>
          <a:off x="838200" y="904759"/>
          <a:ext cx="9340970" cy="3471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85">
                  <a:extLst>
                    <a:ext uri="{9D8B030D-6E8A-4147-A177-3AD203B41FA5}">
                      <a16:colId xmlns:a16="http://schemas.microsoft.com/office/drawing/2014/main" val="1070492287"/>
                    </a:ext>
                  </a:extLst>
                </a:gridCol>
                <a:gridCol w="4670485">
                  <a:extLst>
                    <a:ext uri="{9D8B030D-6E8A-4147-A177-3AD203B41FA5}">
                      <a16:colId xmlns:a16="http://schemas.microsoft.com/office/drawing/2014/main" val="1248608672"/>
                    </a:ext>
                  </a:extLst>
                </a:gridCol>
              </a:tblGrid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Vulnerabilidad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Prioridad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866771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Arbitrary File Write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Alta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988924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HTTP Request Smuggling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Alta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51237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Credential Leak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 – </a:t>
                      </a:r>
                      <a:r>
                        <a:rPr lang="en-US" dirty="0" err="1"/>
                        <a:t>alta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639487"/>
                  </a:ext>
                </a:extLst>
              </a:tr>
              <a:tr h="579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Uso del @main / @latest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24224"/>
                  </a:ext>
                </a:extLst>
              </a:tr>
              <a:tr h="57193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Permisos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elevados</a:t>
                      </a:r>
                      <a:endParaRPr lang="es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</a:t>
                      </a:r>
                      <a:endParaRPr lang="es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637241"/>
                  </a:ext>
                </a:extLst>
              </a:tr>
            </a:tbl>
          </a:graphicData>
        </a:graphic>
      </p:graphicFrame>
      <p:sp>
        <p:nvSpPr>
          <p:cNvPr id="3" name="Título 8">
            <a:extLst>
              <a:ext uri="{FF2B5EF4-FFF2-40B4-BE49-F238E27FC236}">
                <a16:creationId xmlns:a16="http://schemas.microsoft.com/office/drawing/2014/main" id="{C47E359C-6E4F-15BB-CB1D-4A6F12CE54E2}"/>
              </a:ext>
            </a:extLst>
          </p:cNvPr>
          <p:cNvSpPr txBox="1">
            <a:spLocks/>
          </p:cNvSpPr>
          <p:nvPr/>
        </p:nvSpPr>
        <p:spPr>
          <a:xfrm>
            <a:off x="838198" y="4846473"/>
            <a:ext cx="6697717" cy="13385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Goudy Old Style" panose="02020502050305020303" pitchFamily="18" charset="0"/>
                <a:ea typeface="+mj-ea"/>
                <a:cs typeface="+mj-cs"/>
              </a:rPr>
              <a:t>Criterios utilizados: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563B2-AE06-11BB-A9E8-C5C39DAB2CA8}"/>
              </a:ext>
            </a:extLst>
          </p:cNvPr>
          <p:cNvSpPr txBox="1"/>
          <p:nvPr/>
        </p:nvSpPr>
        <p:spPr>
          <a:xfrm>
            <a:off x="4187056" y="4846473"/>
            <a:ext cx="74234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dirty="0">
                <a:solidFill>
                  <a:prstClr val="black"/>
                </a:solidFill>
                <a:latin typeface="Goudy Old Style" panose="02020502050305020303" pitchFamily="18" charset="0"/>
              </a:rPr>
              <a:t>severidad, </a:t>
            </a:r>
            <a:r>
              <a:rPr lang="es-ES" sz="2800" dirty="0" err="1">
                <a:solidFill>
                  <a:prstClr val="black"/>
                </a:solidFill>
                <a:latin typeface="Goudy Old Style" panose="02020502050305020303" pitchFamily="18" charset="0"/>
              </a:rPr>
              <a:t>explotabilidad</a:t>
            </a:r>
            <a:r>
              <a:rPr lang="es-ES" sz="2800" dirty="0">
                <a:solidFill>
                  <a:prstClr val="black"/>
                </a:solidFill>
                <a:latin typeface="Goudy Old Style" panose="02020502050305020303" pitchFamily="18" charset="0"/>
              </a:rPr>
              <a:t>, impacto, exposición, evidencia disponible</a:t>
            </a:r>
            <a:r>
              <a:rPr kumimoji="0" lang="es-E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udy Old Style" panose="02020502050305020303" pitchFamily="18" charset="0"/>
                <a:ea typeface="+mn-ea"/>
                <a:cs typeface="+mn-cs"/>
              </a:rPr>
              <a:t>.</a:t>
            </a:r>
            <a:endParaRPr kumimoji="0" lang="es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7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13"/>
    </mc:Choice>
    <mc:Fallback xmlns="">
      <p:transition spd="slow" advTm="3321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3216E-C872-B376-A5B3-F5EC4CF67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0E499-6EE6-BC68-138A-76A506ED9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79" y="1005712"/>
            <a:ext cx="4309567" cy="3145663"/>
          </a:xfrm>
        </p:spPr>
        <p:txBody>
          <a:bodyPr>
            <a:normAutofit/>
          </a:bodyPr>
          <a:lstStyle/>
          <a:p>
            <a:r>
              <a:rPr lang="es-CL" sz="4800" b="1" dirty="0">
                <a:solidFill>
                  <a:schemeClr val="bg1"/>
                </a:solidFill>
                <a:latin typeface="Goudy Old Style" panose="02020502050305020303" pitchFamily="18" charset="0"/>
              </a:rPr>
              <a:t>Propuesta de gestión de ciclo aplicado</a:t>
            </a:r>
            <a:endParaRPr lang="es-CL" b="1" dirty="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66BD8-18FC-AD38-384E-2E472E319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9" t="14665" r="61228" b="11111"/>
          <a:stretch>
            <a:fillRect/>
          </a:stretch>
        </p:blipFill>
        <p:spPr>
          <a:xfrm>
            <a:off x="7106656" y="364026"/>
            <a:ext cx="4042610" cy="567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7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7443-71BA-848C-E76E-DAB2D7797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8DA89-0B57-538F-6256-4EA3317C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79" y="1005712"/>
            <a:ext cx="4309567" cy="3145663"/>
          </a:xfrm>
        </p:spPr>
        <p:txBody>
          <a:bodyPr>
            <a:normAutofit/>
          </a:bodyPr>
          <a:lstStyle/>
          <a:p>
            <a:r>
              <a:rPr lang="es-CL" sz="4800" b="1" dirty="0">
                <a:solidFill>
                  <a:schemeClr val="bg1"/>
                </a:solidFill>
                <a:latin typeface="Goudy Old Style" panose="02020502050305020303" pitchFamily="18" charset="0"/>
              </a:rPr>
              <a:t>Propuesta de gestión de ciclo aplicado</a:t>
            </a:r>
            <a:endParaRPr lang="es-CL" b="1" dirty="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D7C4A7-E355-CEC2-8A02-7C5701F5B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76" t="14665" r="2436" b="11111"/>
          <a:stretch>
            <a:fillRect/>
          </a:stretch>
        </p:blipFill>
        <p:spPr>
          <a:xfrm>
            <a:off x="6096000" y="469361"/>
            <a:ext cx="6096000" cy="541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43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A2B1-3D22-A2E6-EFF2-1ABB18AC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C2EB1-1909-0C25-CC14-73F16F38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80" y="1005712"/>
            <a:ext cx="3932237" cy="3145663"/>
          </a:xfrm>
        </p:spPr>
        <p:txBody>
          <a:bodyPr/>
          <a:lstStyle/>
          <a:p>
            <a:r>
              <a:rPr lang="es-CL" sz="4800" b="1" dirty="0">
                <a:solidFill>
                  <a:schemeClr val="bg1"/>
                </a:solidFill>
                <a:latin typeface="Goudy Old Style" panose="02020502050305020303" pitchFamily="18" charset="0"/>
              </a:rPr>
              <a:t>Conclusiones</a:t>
            </a:r>
            <a:endParaRPr lang="es-CL" b="1" dirty="0">
              <a:solidFill>
                <a:schemeClr val="bg1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66C394-4194-CD0A-436E-F04083ED8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036" y="553273"/>
            <a:ext cx="5230274" cy="5751454"/>
          </a:xfrm>
        </p:spPr>
        <p:txBody>
          <a:bodyPr>
            <a:normAutofit/>
          </a:bodyPr>
          <a:lstStyle/>
          <a:p>
            <a:pPr algn="just"/>
            <a:r>
              <a:rPr lang="es-ES" sz="2800" dirty="0">
                <a:latin typeface="Goudy Old Style" panose="02020502050305020303" pitchFamily="18" charset="0"/>
              </a:rPr>
              <a:t>Se identificaron vulnerabilidades en dependencias, pipelines y prácticas operacionales.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La seguridad de la cadena de suministro requiere un enfoque integral que combine herramientas, procesos y personas.</a:t>
            </a:r>
          </a:p>
          <a:p>
            <a:pPr algn="just"/>
            <a:r>
              <a:rPr lang="es-ES" sz="2800" dirty="0">
                <a:latin typeface="Goudy Old Style" panose="02020502050305020303" pitchFamily="18" charset="0"/>
              </a:rPr>
              <a:t>La propuesta basada en evidencia permite priorizar acciones concretas para reducir el riesgo.</a:t>
            </a:r>
          </a:p>
        </p:txBody>
      </p:sp>
    </p:spTree>
    <p:extLst>
      <p:ext uri="{BB962C8B-B14F-4D97-AF65-F5344CB8AC3E}">
        <p14:creationId xmlns:p14="http://schemas.microsoft.com/office/powerpoint/2010/main" val="128160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06"/>
    </mc:Choice>
    <mc:Fallback xmlns="">
      <p:transition spd="slow" advTm="2420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72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3"/>
    </mc:Choice>
    <mc:Fallback xmlns="">
      <p:transition spd="slow" advTm="2703"/>
    </mc:Fallback>
  </mc:AlternateContent>
</p:sld>
</file>

<file path=ppt/theme/theme1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UFRO_40_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FRO_40_1" id="{BEBDB830-1B53-6443-8EFB-2A97994A3114}" vid="{9CE97772-CE0A-B347-9897-3CB47FA51595}"/>
    </a:ext>
  </a:extLst>
</a:theme>
</file>

<file path=ppt/theme/theme4.xml><?xml version="1.0" encoding="utf-8"?>
<a:theme xmlns:a="http://schemas.openxmlformats.org/drawingml/2006/main" name="5_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393</Words>
  <Application>Microsoft Office PowerPoint</Application>
  <PresentationFormat>Widescreen</PresentationFormat>
  <Paragraphs>100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Century Gothic</vt:lpstr>
      <vt:lpstr>Goudy Old Style</vt:lpstr>
      <vt:lpstr>Helvetica Light</vt:lpstr>
      <vt:lpstr>3_Diseño personalizado</vt:lpstr>
      <vt:lpstr>6_Diseño personalizado</vt:lpstr>
      <vt:lpstr>UFRO_40_1</vt:lpstr>
      <vt:lpstr>5_Diseño personalizado</vt:lpstr>
      <vt:lpstr>PowerPoint Presentation</vt:lpstr>
      <vt:lpstr>Objetivo y metodología</vt:lpstr>
      <vt:lpstr>Repositorios analizados</vt:lpstr>
      <vt:lpstr>Vulnerabilidades identificadas</vt:lpstr>
      <vt:lpstr>Vector 1: Dependencias y código fuente</vt:lpstr>
      <vt:lpstr>Vector 2: Pipelines CI/CD</vt:lpstr>
      <vt:lpstr>Vector 3: Factor humano</vt:lpstr>
      <vt:lpstr>Priorización de vulnerabilidades</vt:lpstr>
      <vt:lpstr>Propuesta de gestión de ciclo aplicado</vt:lpstr>
      <vt:lpstr>Propuesta de gestión de ciclo aplicado</vt:lpstr>
      <vt:lpstr>Conclusiones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Ramos</dc:creator>
  <cp:lastModifiedBy>Eric Ramos</cp:lastModifiedBy>
  <cp:revision>1</cp:revision>
  <dcterms:created xsi:type="dcterms:W3CDTF">2026-06-02T16:32:16Z</dcterms:created>
  <dcterms:modified xsi:type="dcterms:W3CDTF">2026-06-02T19:47:10Z</dcterms:modified>
</cp:coreProperties>
</file>